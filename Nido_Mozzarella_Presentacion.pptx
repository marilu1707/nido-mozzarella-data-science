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a2d7d18c-0d00-4986-8dda-16d0cd1c5576}">
          <p14:sldIdLst>
            <p14:sldId id="256"/>
            <p14:sldId id="257"/>
            <p14:sldId id="258"/>
            <p14:sldId id="259"/>
          </p14:sldIdLst>
        </p14:section>
        <p14:section name="Producción" id="{c8679ce9-972a-efac-9d4d-e8e1660050dd}">
          <p14:sldIdLst>
            <p14:sldId id="260"/>
            <p14:sldId id="261"/>
            <p14:sldId id="262"/>
          </p14:sldIdLst>
        </p14:section>
        <p14:section name="Precios" id="{03ee6ffc-b2ea-4b88-27c4-a3dc083562ac}">
          <p14:sldIdLst>
            <p14:sldId id="263"/>
            <p14:sldId id="264"/>
            <p14:sldId id="265"/>
          </p14:sldIdLst>
        </p14:section>
        <p14:section name="Cierre" id="{c8d7b870-9686-0ad5-7383-2f73175a50f7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B5E64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6B5E64"/>
                </a:solidFill>
                <a:latin typeface="+mn-lt"/>
              </a:rPr>
              <a:t>Producción promedio por mes, 2015 a 2026 (miles de toneladas)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Miles de t</c:v>
                </c:pt>
              </c:strCache>
            </c:strRef>
          </c:tx>
          <c:spPr>
            <a:solidFill>
              <a:srgbClr val="F8BBD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8BBD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8BBD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8BBD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8BBD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8BBD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8BBD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8BBD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8BBD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2185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2185B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C2185B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F8BBD0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20.6</c:v>
                </c:pt>
                <c:pt idx="1">
                  <c:v>14.3</c:v>
                </c:pt>
                <c:pt idx="2">
                  <c:v>14.1</c:v>
                </c:pt>
                <c:pt idx="3">
                  <c:v>13.3</c:v>
                </c:pt>
                <c:pt idx="4">
                  <c:v>15.4</c:v>
                </c:pt>
                <c:pt idx="5">
                  <c:v>16.1</c:v>
                </c:pt>
                <c:pt idx="6">
                  <c:v>20.4</c:v>
                </c:pt>
                <c:pt idx="7">
                  <c:v>21.7</c:v>
                </c:pt>
                <c:pt idx="8">
                  <c:v>26.1</c:v>
                </c:pt>
                <c:pt idx="9">
                  <c:v>26.3</c:v>
                </c:pt>
                <c:pt idx="10">
                  <c:v>24.9</c:v>
                </c:pt>
                <c:pt idx="11">
                  <c:v>24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3A2A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C4CD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E6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E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B5E64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6B5E64"/>
                </a:solidFill>
                <a:latin typeface="+mn-lt"/>
              </a:rPr>
              <a:t>Producción anual de quesos (miles de toneladas)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Miles de t</c:v>
                </c:pt>
              </c:strCache>
            </c:strRef>
          </c:tx>
          <c:spPr>
            <a:solidFill>
              <a:srgbClr val="F8BBD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8BBD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2185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8BBD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8BBD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8BBD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8BBD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2185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8BBD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F8BBD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F8BBD0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C2185B"/>
              </a:solidFill>
              <a:effectLst/>
            </c:spPr>
          </c:dPt>
          <c:cat>
            <c:multiLvlStrRef>
              <c:f>Sheet1!$A$2:$A$12</c:f>
              <c:multiLvlStrCache>
                <c:ptCount val="11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272</c:v>
                </c:pt>
                <c:pt idx="1">
                  <c:v>191</c:v>
                </c:pt>
                <c:pt idx="2">
                  <c:v>195</c:v>
                </c:pt>
                <c:pt idx="3">
                  <c:v>233</c:v>
                </c:pt>
                <c:pt idx="4">
                  <c:v>233</c:v>
                </c:pt>
                <c:pt idx="5">
                  <c:v>266</c:v>
                </c:pt>
                <c:pt idx="6">
                  <c:v>289</c:v>
                </c:pt>
                <c:pt idx="7">
                  <c:v>264</c:v>
                </c:pt>
                <c:pt idx="8">
                  <c:v>212</c:v>
                </c:pt>
                <c:pt idx="9">
                  <c:v>209</c:v>
                </c:pt>
                <c:pt idx="10">
                  <c:v>243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3A2A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C4CD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E6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E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6B5E64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6B5E64"/>
                </a:solidFill>
                <a:latin typeface="+mn-lt"/>
              </a:rPr>
              <a:t>Precio del kg de queso cremoso en pesos de 06/2026 (promedio trimestral)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Precio real</c:v>
                </c:pt>
              </c:strCache>
            </c:strRef>
          </c:tx>
          <c:spPr>
            <a:solidFill>
              <a:srgbClr val="C2185B"/>
            </a:solidFill>
            <a:ln w="25400" cap="flat">
              <a:solidFill>
                <a:srgbClr val="C218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2A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2185B"/>
              </a:solidFill>
              <a:ln w="9525" cap="flat">
                <a:solidFill>
                  <a:srgbClr val="C218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Sheet1!$A$2:$A$40</c:f>
              <c:multiLvlStrCache>
                <c:ptCount val="39"/>
                <c:lvl>
                  <c:pt idx="0">
                    <c:v/>
                  </c:pt>
                  <c:pt idx="1">
                    <c:v>2017</c:v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>2018</c:v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>2019</c:v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>2020</c:v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>2021</c:v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>2022</c:v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>2023</c:v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>2024</c:v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>2025</c:v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>2026</c:v>
                  </c:pt>
                  <c:pt idx="38">
                    <c:v/>
                  </c:pt>
                </c:lvl>
              </c:multiLvlStrCache>
            </c:multiLvlStrRef>
          </c:cat>
          <c:val>
            <c:numRef>
              <c:f>Sheet1!$B$2:$B$40</c:f>
              <c:numCache>
                <c:formatCode>General</c:formatCode>
                <c:ptCount val="39"/>
                <c:pt idx="0">
                  <c:v>14471</c:v>
                </c:pt>
                <c:pt idx="1">
                  <c:v>14743</c:v>
                </c:pt>
                <c:pt idx="2">
                  <c:v>15873</c:v>
                </c:pt>
                <c:pt idx="3">
                  <c:v>15743</c:v>
                </c:pt>
                <c:pt idx="4">
                  <c:v>14571</c:v>
                </c:pt>
                <c:pt idx="5">
                  <c:v>13648</c:v>
                </c:pt>
                <c:pt idx="6">
                  <c:v>13934</c:v>
                </c:pt>
                <c:pt idx="7">
                  <c:v>13679</c:v>
                </c:pt>
                <c:pt idx="8">
                  <c:v>13585</c:v>
                </c:pt>
                <c:pt idx="9">
                  <c:v>14667</c:v>
                </c:pt>
                <c:pt idx="10">
                  <c:v>17446</c:v>
                </c:pt>
                <c:pt idx="11">
                  <c:v>17087</c:v>
                </c:pt>
                <c:pt idx="12">
                  <c:v>15167</c:v>
                </c:pt>
                <c:pt idx="13">
                  <c:v>14799</c:v>
                </c:pt>
                <c:pt idx="14">
                  <c:v>15518</c:v>
                </c:pt>
                <c:pt idx="15">
                  <c:v>14464</c:v>
                </c:pt>
                <c:pt idx="16">
                  <c:v>13422</c:v>
                </c:pt>
                <c:pt idx="17">
                  <c:v>13685</c:v>
                </c:pt>
                <c:pt idx="18">
                  <c:v>15718</c:v>
                </c:pt>
                <c:pt idx="19">
                  <c:v>15815</c:v>
                </c:pt>
                <c:pt idx="20">
                  <c:v>14994</c:v>
                </c:pt>
                <c:pt idx="21">
                  <c:v>14677</c:v>
                </c:pt>
                <c:pt idx="22">
                  <c:v>15651</c:v>
                </c:pt>
                <c:pt idx="23">
                  <c:v>15359</c:v>
                </c:pt>
                <c:pt idx="24">
                  <c:v>14736</c:v>
                </c:pt>
                <c:pt idx="25">
                  <c:v>14611</c:v>
                </c:pt>
                <c:pt idx="26">
                  <c:v>15325</c:v>
                </c:pt>
                <c:pt idx="27">
                  <c:v>14374</c:v>
                </c:pt>
                <c:pt idx="28">
                  <c:v>13290</c:v>
                </c:pt>
                <c:pt idx="29">
                  <c:v>14748</c:v>
                </c:pt>
                <c:pt idx="30">
                  <c:v>16681</c:v>
                </c:pt>
                <c:pt idx="31">
                  <c:v>16220</c:v>
                </c:pt>
                <c:pt idx="32">
                  <c:v>15274</c:v>
                </c:pt>
                <c:pt idx="33">
                  <c:v>14804</c:v>
                </c:pt>
                <c:pt idx="34">
                  <c:v>14663</c:v>
                </c:pt>
                <c:pt idx="35">
                  <c:v>14468</c:v>
                </c:pt>
                <c:pt idx="36">
                  <c:v>13745</c:v>
                </c:pt>
                <c:pt idx="37">
                  <c:v>13033</c:v>
                </c:pt>
                <c:pt idx="38">
                  <c:v>13299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A2A3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C4CD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E6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10000"/>
        </c:scaling>
        <c:delete val="0"/>
        <c:axPos val="l"/>
        <c:majorGridlines>
          <c:spPr>
            <a:ln w="9525" cap="flat">
              <a:solidFill>
                <a:srgbClr val="F3E0E8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E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6B5E64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6B5E64"/>
                </a:solidFill>
                <a:latin typeface="+mn-lt"/>
              </a:rPr>
              <a:t>Litros de leche equivalentes a 1 kg de queso (trimestral)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Litros por kg</c:v>
                </c:pt>
              </c:strCache>
            </c:strRef>
          </c:tx>
          <c:spPr>
            <a:solidFill>
              <a:srgbClr val="C2185B"/>
            </a:solidFill>
            <a:ln w="25400" cap="flat">
              <a:solidFill>
                <a:srgbClr val="C218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2A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2185B"/>
              </a:solidFill>
              <a:ln w="9525" cap="flat">
                <a:solidFill>
                  <a:srgbClr val="C218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Sheet1!$A$2:$A$40</c:f>
              <c:multiLvlStrCache>
                <c:ptCount val="39"/>
                <c:lvl>
                  <c:pt idx="0">
                    <c:v/>
                  </c:pt>
                  <c:pt idx="1">
                    <c:v>2017</c:v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>2018</c:v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>2019</c:v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>2020</c:v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>2021</c:v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>2022</c:v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>2023</c:v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>2024</c:v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>2025</c:v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>2026</c:v>
                  </c:pt>
                  <c:pt idx="38">
                    <c:v/>
                  </c:pt>
                </c:lvl>
              </c:multiLvlStrCache>
            </c:multiLvlStrRef>
          </c:cat>
          <c:val>
            <c:numRef>
              <c:f>Sheet1!$B$2:$B$40</c:f>
              <c:numCache>
                <c:formatCode>General</c:formatCode>
                <c:ptCount val="39"/>
                <c:pt idx="0">
                  <c:v>6.78</c:v>
                </c:pt>
                <c:pt idx="1">
                  <c:v>6.86</c:v>
                </c:pt>
                <c:pt idx="2">
                  <c:v>7.26</c:v>
                </c:pt>
                <c:pt idx="3">
                  <c:v>7.09</c:v>
                </c:pt>
                <c:pt idx="4">
                  <c:v>6.68</c:v>
                </c:pt>
                <c:pt idx="5">
                  <c:v>6.49</c:v>
                </c:pt>
                <c:pt idx="6">
                  <c:v>6.86</c:v>
                </c:pt>
                <c:pt idx="7">
                  <c:v>6.86</c:v>
                </c:pt>
                <c:pt idx="8">
                  <c:v>6.48</c:v>
                </c:pt>
                <c:pt idx="9">
                  <c:v>6.6</c:v>
                </c:pt>
                <c:pt idx="10">
                  <c:v>7.39</c:v>
                </c:pt>
                <c:pt idx="11">
                  <c:v>7.3</c:v>
                </c:pt>
                <c:pt idx="12">
                  <c:v>6.99</c:v>
                </c:pt>
                <c:pt idx="13">
                  <c:v>6.77</c:v>
                </c:pt>
                <c:pt idx="14">
                  <c:v>7.56</c:v>
                </c:pt>
                <c:pt idx="15">
                  <c:v>7.37</c:v>
                </c:pt>
                <c:pt idx="16">
                  <c:v>7.37</c:v>
                </c:pt>
                <c:pt idx="17">
                  <c:v>7.66</c:v>
                </c:pt>
                <c:pt idx="18">
                  <c:v>7.87</c:v>
                </c:pt>
                <c:pt idx="19">
                  <c:v>7.75</c:v>
                </c:pt>
                <c:pt idx="20">
                  <c:v>7.85</c:v>
                </c:pt>
                <c:pt idx="21">
                  <c:v>8.05</c:v>
                </c:pt>
                <c:pt idx="22">
                  <c:v>7.97</c:v>
                </c:pt>
                <c:pt idx="23">
                  <c:v>7.6</c:v>
                </c:pt>
                <c:pt idx="24">
                  <c:v>6.44</c:v>
                </c:pt>
                <c:pt idx="25">
                  <c:v>6.7</c:v>
                </c:pt>
                <c:pt idx="26">
                  <c:v>7.15</c:v>
                </c:pt>
                <c:pt idx="27">
                  <c:v>6.98</c:v>
                </c:pt>
                <c:pt idx="28">
                  <c:v>6.72</c:v>
                </c:pt>
                <c:pt idx="29">
                  <c:v>5.9</c:v>
                </c:pt>
                <c:pt idx="30">
                  <c:v>6.51</c:v>
                </c:pt>
                <c:pt idx="31">
                  <c:v>7.04</c:v>
                </c:pt>
                <c:pt idx="32">
                  <c:v>6.8</c:v>
                </c:pt>
                <c:pt idx="33">
                  <c:v>6.8</c:v>
                </c:pt>
                <c:pt idx="34">
                  <c:v>6.97</c:v>
                </c:pt>
                <c:pt idx="35">
                  <c:v>7.06</c:v>
                </c:pt>
                <c:pt idx="36">
                  <c:v>7.2</c:v>
                </c:pt>
                <c:pt idx="37">
                  <c:v>6.98</c:v>
                </c:pt>
                <c:pt idx="38">
                  <c:v>6.91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A2A3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C4CD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E6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5"/>
        </c:scaling>
        <c:delete val="0"/>
        <c:axPos val="l"/>
        <c:majorGridlines>
          <c:spPr>
            <a:ln w="9525" cap="flat">
              <a:solidFill>
                <a:srgbClr val="F3E0E8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E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B5E64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6B5E64"/>
                </a:solidFill>
                <a:latin typeface="+mn-lt"/>
              </a:rPr>
              <a:t>Precio real del queso respecto de su tendencia, por mes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vs tendencia</c:v>
                </c:pt>
              </c:strCache>
            </c:strRef>
          </c:tx>
          <c:spPr>
            <a:solidFill>
              <a:srgbClr val="F8BBD0"/>
            </a:solidFill>
            <a:effectLst/>
          </c:spPr>
          <c:invertIfNegative val="0"/>
          <c:dLbls>
            <c:numFmt formatCode="+0.0;-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8BBD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8BBD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8BBD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2185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2185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2185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2185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2185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2185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F8BBD0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F8BBD0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F8BBD0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-5.2</c:v>
                </c:pt>
                <c:pt idx="1">
                  <c:v>-3.7</c:v>
                </c:pt>
                <c:pt idx="2">
                  <c:v>-1</c:v>
                </c:pt>
                <c:pt idx="3">
                  <c:v>3.5</c:v>
                </c:pt>
                <c:pt idx="4">
                  <c:v>4.3</c:v>
                </c:pt>
                <c:pt idx="5">
                  <c:v>4.6</c:v>
                </c:pt>
                <c:pt idx="6">
                  <c:v>4</c:v>
                </c:pt>
                <c:pt idx="7">
                  <c:v>2.3</c:v>
                </c:pt>
                <c:pt idx="8">
                  <c:v>0.1</c:v>
                </c:pt>
                <c:pt idx="9">
                  <c:v>-2</c:v>
                </c:pt>
                <c:pt idx="10">
                  <c:v>-3.5</c:v>
                </c:pt>
                <c:pt idx="11">
                  <c:v>-5.3</c:v>
                </c:pt>
              </c:numCache>
            </c:numRef>
          </c:val>
        </c:ser>
        <c:dLbls>
          <c:numFmt formatCode="+0.0;-0.0" sourceLinked="0"/>
          <c:txPr>
            <a:bodyPr/>
            <a:lstStyle/>
            <a:p>
              <a:pPr>
                <a:defRPr b="0" i="0" strike="noStrike" sz="1000" u="none">
                  <a:solidFill>
                    <a:srgbClr val="3A2A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C4CD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E6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E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rgbClr val="880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8BBD0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E64"/>
                </a:solidFill>
              </a:rPr>
              <a:t>Nido Mozzarella · Primera entrega · Data Science II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5E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5E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Nido Mozzarella: qué mueve la oferta y el precio del queso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8BBD0"/>
                </a:solidFill>
              </a:rPr>
              <a:t>Primera entrega · Obtención de insights a partir de visualizaciones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María Luján Massironi · Data Science II, Coderhouse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miramos estos datos y para quién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651760"/>
          </a:xfrm>
          <a:prstGeom prst="roundRect">
            <a:avLst>
              <a:gd name="adj" fmla="val 4138"/>
            </a:avLst>
          </a:prstGeom>
          <a:solidFill>
            <a:srgbClr val="FDF0F5"/>
          </a:solidFill>
          <a:ln w="12700">
            <a:solidFill>
              <a:srgbClr val="FDF0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18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Motivación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3520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2A30"/>
                </a:solidFill>
              </a:rPr>
              <a:t>Nido Mozzarella elabora y vende mozzarella.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2A30"/>
                </a:solidFill>
              </a:rPr>
              <a:t>Su margen depende de cuánta leche hay, cuánto cuesta y a cuánto se vende el queso.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2A30"/>
                </a:solidFill>
              </a:rPr>
              <a:t>Con inflación alta, es fácil perder precio sin notarlo.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2651760"/>
          </a:xfrm>
          <a:prstGeom prst="roundRect">
            <a:avLst>
              <a:gd name="adj" fmla="val 4138"/>
            </a:avLst>
          </a:prstGeom>
          <a:solidFill>
            <a:srgbClr val="FDF0F5"/>
          </a:solidFill>
          <a:ln w="12700">
            <a:solidFill>
              <a:srgbClr val="FDF0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83480" y="1325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18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Audiencia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1783080"/>
            <a:ext cx="3520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3A2A30"/>
                </a:solidFill>
              </a:rPr>
              <a:t>Dueños y gerencia: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3A2A30"/>
                </a:solidFill>
              </a:rPr>
              <a:t>plan anual de producción.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3A2A30"/>
                </a:solidFill>
              </a:rPr>
              <a:t>Compras: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3A2A30"/>
                </a:solidFill>
              </a:rPr>
              <a:t>cuándo asegurar leche.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3A2A30"/>
                </a:solidFill>
              </a:rPr>
              <a:t>Comercial: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3A2A30"/>
                </a:solidFill>
              </a:rPr>
              <a:t>cuándo subir precios y cuándo hacer promociones.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06908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DF0F5"/>
          </a:solidFill>
          <a:ln w="12700">
            <a:solidFill>
              <a:srgbClr val="FDF0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0690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0E4F"/>
                </a:solidFill>
              </a:rPr>
              <a:t>La pregunta de fondo: cuándo producir más, cuándo subir precios y cómo cuidar el margen.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5E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fuentes públicas, un solo dataset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218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138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74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A30"/>
                </a:solidFill>
              </a:rPr>
              <a:t>meses analizados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514600" y="1188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218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2514600" y="1874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A30"/>
                </a:solidFill>
              </a:rPr>
              <a:t>columnas (20 numéricas)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188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218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1874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A30"/>
                </a:solidFill>
              </a:rPr>
              <a:t>fuentes vía API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11887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218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años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1874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A30"/>
                </a:solidFill>
              </a:rPr>
              <a:t>de 01/2015 a 06/2026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3035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Fuente</a:t>
                      </a:r>
                      <a:endParaRPr lang="en-US" sz="1200" dirty="0"/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218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Qué aporta</a:t>
                      </a:r>
                      <a:endParaRPr lang="en-US" sz="1200" dirty="0"/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2185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2A30"/>
                          </a:solidFill>
                        </a:rPr>
                        <a:t>INDEC / Min. Economía</a:t>
                      </a:r>
                      <a:endParaRPr lang="en-US" sz="1200" dirty="0"/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2A30"/>
                          </a:solidFill>
                        </a:rPr>
                        <a:t>Producción de quesos y otros lácteos</a:t>
                      </a:r>
                      <a:endParaRPr lang="en-US" sz="1200" dirty="0"/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0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2A30"/>
                          </a:solidFill>
                        </a:rPr>
                        <a:t>INDEC (precios GBA)</a:t>
                      </a:r>
                      <a:endParaRPr lang="en-US" sz="1200" dirty="0"/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2A30"/>
                          </a:solidFill>
                        </a:rPr>
                        <a:t>Precio del kg de queso y del litro de leche</a:t>
                      </a:r>
                      <a:endParaRPr lang="en-US" sz="1200" dirty="0"/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2A30"/>
                          </a:solidFill>
                        </a:rPr>
                        <a:t>INDEC (IPC Nacional)</a:t>
                      </a:r>
                      <a:endParaRPr lang="en-US" sz="1200" dirty="0"/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2A30"/>
                          </a:solidFill>
                        </a:rPr>
                        <a:t>Inflación, para pasar precios a pesos de hoy</a:t>
                      </a:r>
                      <a:endParaRPr lang="en-US" sz="1200" dirty="0"/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0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2A30"/>
                          </a:solidFill>
                        </a:rPr>
                        <a:t>Open-Meteo / NASA POWER</a:t>
                      </a:r>
                      <a:endParaRPr lang="en-US" sz="1200" dirty="0"/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2A30"/>
                          </a:solidFill>
                        </a:rPr>
                        <a:t>Temperatura y lluvia en Buenos Aires</a:t>
                      </a:r>
                      <a:endParaRPr lang="en-US" sz="1200" dirty="0"/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2A30"/>
                          </a:solidFill>
                        </a:rPr>
                        <a:t>ArgentinaDatos + portfolio</a:t>
                      </a:r>
                      <a:endParaRPr lang="en-US" sz="1200" dirty="0"/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2A30"/>
                          </a:solidFill>
                        </a:rPr>
                        <a:t>Feriados y participación de la mozzarella</a:t>
                      </a:r>
                      <a:endParaRPr lang="en-US" sz="1200" dirty="0"/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0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5E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Siete preguntas para guiar el análisis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84048" cy="38404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18872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A30"/>
                </a:solidFill>
              </a:rPr>
              <a:t>¿La producción de quesos es estacional?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984248"/>
            <a:ext cx="384048" cy="38404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938528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A30"/>
                </a:solidFill>
              </a:rPr>
              <a:t>¿Cómo cambia de un año a otro?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734056"/>
            <a:ext cx="384048" cy="38404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688336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A30"/>
                </a:solidFill>
              </a:rPr>
              <a:t>¿El calor baja la producción?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483864"/>
            <a:ext cx="384048" cy="38404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438144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A30"/>
                </a:solidFill>
              </a:rPr>
              <a:t>¿El queso le ganó a la inflación?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63440" y="1234440"/>
            <a:ext cx="384048" cy="38404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118872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A30"/>
                </a:solidFill>
              </a:rPr>
              <a:t>¿El queso acompaña a la leche?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63440" y="1984248"/>
            <a:ext cx="384048" cy="38404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63440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1938528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A30"/>
                </a:solidFill>
              </a:rPr>
              <a:t>¿El precio del queso cambia según la época?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663440" y="2734056"/>
            <a:ext cx="384048" cy="38404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6344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212080" y="2688336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A30"/>
                </a:solidFill>
              </a:rPr>
              <a:t>¿Los feriados restan producción?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5E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Octubre produce el doble de queso que abril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8229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06908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DF0F5"/>
          </a:solidFill>
          <a:ln w="12700">
            <a:solidFill>
              <a:srgbClr val="FDF0F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40690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0E4F"/>
                </a:solidFill>
              </a:rPr>
              <a:t>La primavera concentra el 31% del queso del año y el otoño apenas el 19%.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5E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producción es volátil: en 2025 subió 16%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8229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06908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DF0F5"/>
          </a:solidFill>
          <a:ln w="12700">
            <a:solidFill>
              <a:srgbClr val="FDF0F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40690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0E4F"/>
                </a:solidFill>
              </a:rPr>
              <a:t>Los últimos 12 meses vienen 20% arriba de los 12 anteriores: más oferta y más competencia.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5E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 el calor ni los feriados explican la producción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651760"/>
          </a:xfrm>
          <a:prstGeom prst="roundRect">
            <a:avLst>
              <a:gd name="adj" fmla="val 4138"/>
            </a:avLst>
          </a:prstGeom>
          <a:solidFill>
            <a:srgbClr val="FDF0F5"/>
          </a:solidFill>
          <a:ln w="12700">
            <a:solidFill>
              <a:srgbClr val="FDF0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18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80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-0,09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6032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A30"/>
                </a:solidFill>
              </a:rPr>
              <a:t>Correlación prácticamente nula entre la temperatura del mes y lo que se produce.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2651760"/>
          </a:xfrm>
          <a:prstGeom prst="roundRect">
            <a:avLst>
              <a:gd name="adj" fmla="val 4138"/>
            </a:avLst>
          </a:prstGeom>
          <a:solidFill>
            <a:srgbClr val="FDF0F5"/>
          </a:solidFill>
          <a:ln w="12700">
            <a:solidFill>
              <a:srgbClr val="FDF0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8348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18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Feriados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17373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80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-0,02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256032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A30"/>
                </a:solidFill>
              </a:rPr>
              <a:t>Parecía haber efecto (r = -0,25), pero desaparece al comparar cada mes con su promedio.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06908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DF0F5"/>
          </a:solidFill>
          <a:ln w="12700">
            <a:solidFill>
              <a:srgbClr val="FDF0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40690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0E4F"/>
                </a:solidFill>
              </a:rPr>
              <a:t>Para planificar la producción alcanza con el calendario: el clima no aporta.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5E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queso perdió 11% contra la inflación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56692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0" y="1280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B5E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$15.272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0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A30"/>
                </a:solidFill>
              </a:rPr>
              <a:t>promedio al inicio (2016-17)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0" y="2606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218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$13.636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3291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A30"/>
                </a:solidFill>
              </a:rPr>
              <a:t>promedio de los últimos 12 meses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406908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DF0F5"/>
          </a:solidFill>
          <a:ln w="12700">
            <a:solidFill>
              <a:srgbClr val="FDF0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40690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0E4F"/>
                </a:solidFill>
              </a:rPr>
              <a:t>Subir precios al ritmo de la inflación no alcanza: el margen hay que cuidarlo por el lado del costo.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5E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kg de queso vale lo mismo que 7,1 litros de leche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56692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0" y="1280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218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0,81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0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A30"/>
                </a:solidFill>
              </a:rPr>
              <a:t>correlación entre los aumentos mensuales de queso y leche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0" y="2606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218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5,8-8,1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3291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A30"/>
                </a:solidFill>
              </a:rPr>
              <a:t>rango de la relación (litros por kg)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406908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DF0F5"/>
          </a:solidFill>
          <a:ln w="12700">
            <a:solidFill>
              <a:srgbClr val="FDF0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40690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0E4F"/>
                </a:solidFill>
              </a:rPr>
              <a:t>Indicador de margen: si la relación baja de 7, el precio del queso se está quedando atrás.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5E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otoño e invierno el queso se paga más caro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8229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06908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DF0F5"/>
          </a:solidFill>
          <a:ln w="12700">
            <a:solidFill>
              <a:srgbClr val="FDF0F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40690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0E4F"/>
                </a:solidFill>
              </a:rPr>
              <a:t>Abril a julio, cuando hay menos queso: mejor momento para el precio. Verano: volumen y promociones.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5E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Insights: qué confirmamos y qué hacemos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560320"/>
                <a:gridCol w="2286000"/>
                <a:gridCol w="29260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218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Hipótesis</a:t>
                      </a:r>
                      <a:endParaRPr lang="en-US" sz="12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218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Dato</a:t>
                      </a:r>
                      <a:endParaRPr lang="en-US" sz="12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218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Acción</a:t>
                      </a:r>
                      <a:endParaRPr lang="en-US" sz="12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2185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185B"/>
                          </a:solidFill>
                        </a:rPr>
                        <a:t>✔</a:t>
                      </a:r>
                      <a:endParaRPr lang="en-US" sz="12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0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30"/>
                          </a:solidFill>
                        </a:rPr>
                        <a:t>Producción estacional</a:t>
                      </a:r>
                      <a:endParaRPr lang="en-US" sz="12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0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30"/>
                          </a:solidFill>
                        </a:rPr>
                        <a:t>Pico en oct, mínimo en abr</a:t>
                      </a:r>
                      <a:endParaRPr lang="en-US" sz="12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0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30"/>
                          </a:solidFill>
                        </a:rPr>
                        <a:t>Plan de producción por estación</a:t>
                      </a:r>
                      <a:endParaRPr lang="en-US" sz="12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0F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185B"/>
                          </a:solidFill>
                        </a:rPr>
                        <a:t>✔</a:t>
                      </a:r>
                      <a:endParaRPr lang="en-US" sz="12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30"/>
                          </a:solidFill>
                        </a:rPr>
                        <a:t>Volátil año a año</a:t>
                      </a:r>
                      <a:endParaRPr lang="en-US" sz="12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30"/>
                          </a:solidFill>
                        </a:rPr>
                        <a:t>2025: +16%</a:t>
                      </a:r>
                      <a:endParaRPr lang="en-US" sz="12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30"/>
                          </a:solidFill>
                        </a:rPr>
                        <a:t>Revisar el plan una vez al año</a:t>
                      </a:r>
                      <a:endParaRPr lang="en-US" sz="12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B5E64"/>
                          </a:solidFill>
                        </a:rPr>
                        <a:t>✘</a:t>
                      </a:r>
                      <a:endParaRPr lang="en-US" sz="12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0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30"/>
                          </a:solidFill>
                        </a:rPr>
                        <a:t>El calor baja la producción</a:t>
                      </a:r>
                      <a:endParaRPr lang="en-US" sz="12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0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30"/>
                          </a:solidFill>
                        </a:rPr>
                        <a:t>r = -0,09</a:t>
                      </a:r>
                      <a:endParaRPr lang="en-US" sz="12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0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30"/>
                          </a:solidFill>
                        </a:rPr>
                        <a:t>Planificar con el calendario</a:t>
                      </a:r>
                      <a:endParaRPr lang="en-US" sz="12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0F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185B"/>
                          </a:solidFill>
                        </a:rPr>
                        <a:t>✔</a:t>
                      </a:r>
                      <a:endParaRPr lang="en-US" sz="12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30"/>
                          </a:solidFill>
                        </a:rPr>
                        <a:t>Queso pierde vs inflación</a:t>
                      </a:r>
                      <a:endParaRPr lang="en-US" sz="12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30"/>
                          </a:solidFill>
                        </a:rPr>
                        <a:t>-11% real</a:t>
                      </a:r>
                      <a:endParaRPr lang="en-US" sz="12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30"/>
                          </a:solidFill>
                        </a:rPr>
                        <a:t>Controlar costos</a:t>
                      </a:r>
                      <a:endParaRPr lang="en-US" sz="12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185B"/>
                          </a:solidFill>
                        </a:rPr>
                        <a:t>✔</a:t>
                      </a:r>
                      <a:endParaRPr lang="en-US" sz="12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0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30"/>
                          </a:solidFill>
                        </a:rPr>
                        <a:t>Queso acompaña a la leche</a:t>
                      </a:r>
                      <a:endParaRPr lang="en-US" sz="12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0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30"/>
                          </a:solidFill>
                        </a:rPr>
                        <a:t>7,1 l por kg</a:t>
                      </a:r>
                      <a:endParaRPr lang="en-US" sz="12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0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30"/>
                          </a:solidFill>
                        </a:rPr>
                        <a:t>Indicador de margen mensual</a:t>
                      </a:r>
                      <a:endParaRPr lang="en-US" sz="12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0F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185B"/>
                          </a:solidFill>
                        </a:rPr>
                        <a:t>✔</a:t>
                      </a:r>
                      <a:endParaRPr lang="en-US" sz="12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30"/>
                          </a:solidFill>
                        </a:rPr>
                        <a:t>Precio estacional</a:t>
                      </a:r>
                      <a:endParaRPr lang="en-US" sz="12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30"/>
                          </a:solidFill>
                        </a:rPr>
                        <a:t>+4 a 5% abril-julio</a:t>
                      </a:r>
                      <a:endParaRPr lang="en-US" sz="12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30"/>
                          </a:solidFill>
                        </a:rPr>
                        <a:t>Precios en otoño, promos en verano</a:t>
                      </a:r>
                      <a:endParaRPr lang="en-US" sz="12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B5E64"/>
                          </a:solidFill>
                        </a:rPr>
                        <a:t>✘</a:t>
                      </a:r>
                      <a:endParaRPr lang="en-US" sz="12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0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30"/>
                          </a:solidFill>
                        </a:rPr>
                        <a:t>Feriados restan producción</a:t>
                      </a:r>
                      <a:endParaRPr lang="en-US" sz="12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0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30"/>
                          </a:solidFill>
                        </a:rPr>
                        <a:t>r = -0,02</a:t>
                      </a:r>
                      <a:endParaRPr lang="en-US" sz="12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0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30"/>
                          </a:solidFill>
                        </a:rPr>
                        <a:t>No ajustar por feriados</a:t>
                      </a:r>
                      <a:endParaRPr lang="en-US" sz="12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0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5E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 paso: pronosticar con Machine Learning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8BBD0"/>
                </a:solidFill>
              </a:rPr>
              <a:t>Modelo para predecir la producción y el precio del mes siguiente.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BBD0"/>
                </a:solidFill>
              </a:rPr>
              <a:t>Variables útiles: mes, estación y meses anteriores. Fuera: clima y feriados.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do Mozzarella">
  <a:themeElements>
    <a:clrScheme name="Nido Mozzarella">
      <a:dk1>
        <a:srgbClr val="3A2A30"/>
      </a:dk1>
      <a:lt1>
        <a:srgbClr val="FFFFFF"/>
      </a:lt1>
      <a:dk2>
        <a:srgbClr val="880E4F"/>
      </a:dk2>
      <a:lt2>
        <a:srgbClr val="FDF0F5"/>
      </a:lt2>
      <a:accent1>
        <a:srgbClr val="C2185B"/>
      </a:accent1>
      <a:accent2>
        <a:srgbClr val="1E88E5"/>
      </a:accent2>
      <a:accent3>
        <a:srgbClr val="F8BBD0"/>
      </a:accent3>
      <a:accent4>
        <a:srgbClr val="6B5E64"/>
      </a:accent4>
      <a:accent5>
        <a:srgbClr val="AD1457"/>
      </a:accent5>
      <a:accent6>
        <a:srgbClr val="F06292"/>
      </a:accent6>
      <a:hlink>
        <a:srgbClr val="C2185B"/>
      </a:hlink>
      <a:folHlink>
        <a:srgbClr val="880E4F"/>
      </a:folHlink>
    </a:clrScheme>
    <a:fontScheme name="Nido Mozzarell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Nido Mozzarella - Primera entrega</dc:title>
  <dc:subject>PptxGenJS Presentation</dc:subject>
  <dc:creator>María Luján Massironi</dc:creator>
  <cp:lastModifiedBy>María Luján Massironi</cp:lastModifiedBy>
  <cp:revision>1</cp:revision>
  <dcterms:created xsi:type="dcterms:W3CDTF">2026-10-22T13:24:57Z</dcterms:created>
  <dcterms:modified xsi:type="dcterms:W3CDTF">2026-10-22T13:24:57Z</dcterms:modified>
</cp:coreProperties>
</file>